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2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各位评委好。我们的作品叫智演，对应科大讯飞发榜的 XH-202621 赛题。一句话：它从企业官方招聘门户的 JD 里，自动长出一张能点到证据的岗位能力图谱，能发现新岗位、记录既有岗位要求的变化，并对着一份简历给出方向结论。接下来 10 分钟按问题、方案、四项功能、创新点、可验证性、提交物的顺序介绍。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先说问题。第一，时滞：招聘网站上的岗位描述是抄来抄去的静态文本，Agent 工程师已经从大模型应用工程师里拆出来了，但没有一个地方能告诉你它什么时候成为独立岗位、要求什么。第二，噪声和抄袭：同一份 JD 被多个渠道转发，统计时被重复计数，通用素质和模型品牌被当成技能。第三，幻觉：直接让大模型写岗位画像，它会编出不存在的要求，求职者无法核对。我们把这三个问题作为设计起点。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把赛题要求和我们的实现逐条对上。四项核心功能分别落在市场变化页、岗位工作台、图谱本体和五步诊断上；创新要求里的多源交叉验证和幻觉防控是贯穿管线的闸门，不是单独的功能页。可验证性要求我们在后面单独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总体架构分六层。最底层是 53 个企业官方招聘门户；采集层做指纹幂等和近重去重；图谱构建层是核心，包含切段、LLM JSON 抽取、三层归一、入池与判定票、置信层与审核闸、发布校验；存储用 Neo4j 存图、Redis 存会话和事件流；服务层是 FastAPI；应用层是 Next.js 的五个页面。大模型的唯一出口是 app/llm/client.py，方便更换供应商和 mock 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数据来源是 53 个企业官方招聘门户，覆盖飞书、腾讯、字节、北森四种 ATS 结构，不抓第三方招聘网站，避免二次转发的抄袭。清洗做四件事：正文 sha256 指纹保证幂等；64 位 simhash 海明距离不超过 3 判近重，只留最早一条；独立源按规范化公司名去重，一家公司多渠道只算一票；观察时间和有效期分开记，这样切片差分才能重演。抽取阶段只允许职责段和要求段进入技能点，福利和公司介绍不计。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第一项功能。对不上 17 个规范岗位靶子的 JD，用标题加技能点做 bge 嵌入，层次聚类，最小簇 3；再让大模型对每个簇做三分类：新岗位、别名、噪声。别名并入既有岗位，比如“大模型应用开发工程师”判为大模型应用工程师的别名。状态机：候选不入谱；3 个独立源、90 天窗、判为新岗位才成为萌芽；10 个独立源或持续 6 个月且岗位定义获批才成型。右边是市场变化页，用求职者的问题组织卷宗：为什么系统认为岗位正在形成、哪些公司在招、与最接近的既有岗位有什么区别。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第二项功能。技能点要进入岗位要求，先过入池门：来自职责或要求段，且簇内覆盖率不低于 30%，否则只是“观测中”。然后每份去重 JD 投一张要求判定票：原文写“必须、熟练掌握”记明确必备，写“优先、加分”记明确加分，普通提及记未标。明确票占已分类票 60% 以上，且来自至少两个独立源，才能确定要求性质；否则只进待审。旧的要求边不删，写 valid_to，所以切片差分可以重演。右边是管理后台，按岗位与待发布版本分组，管理员能看到三类票数和原文，批、改、驳都留痕。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第三项功能，全景图谱。本体有六类节点：领域、岗位、技能类目、技能点、证据、演化事件。要求边上带必备或加分、熟练级、有效期、置信层、证据 ID、要求组信息，所以级别写在边上，岗位不按初高级分裂。工作台画当前岗位的切片，用领域、技术栈类目、熟练级筛选；桌面默认图谱视图、移动端默认要求清单，两者随时切换。点任何技能点都能打开证据抽屉看最短原文和公司来源。图布局在 Web Worker 里跑 d3-force，主线程不卡。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第四项功能，五步诊断。上传 PDF 或 docx 简历，只取文本层，原文件即删，会话存 Redis 一小时，免登录。模型解析后用户按原文校对技能点、熟练级和证据级。系统按岗位推荐序给出三个可诊断岗位，用户选两个对照。匹配分是确定性公式：必备覆盖加 0.3 倍加分覆盖，半档记 0.5，四个档位阈值 0.85、0.60、0.35。大模型只做方向结论的解释，不合成新分数，每条判断带证据 ID，缺失只能写“简历中未找到”。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报告页。首屏固定一句方向结论，下面只放当前档位、最大优势和最大阻碍。当两个岗位的档位、必备覆盖、专属技能数、可迁移能力数和最小换档等价数全部相同，系统写“当前简历证据不足以明确区分”，不强选胜者。四个记忆点：换档模拟器只接受缺口和熟练级不足项，用现有规则即时重算，结果标“假设结果”；简历证据地图左边经历右边要求，连线标提及、使用或结果；邻近岗位迁移地图给出最小换档技能数；市场信号雷达列观测中技能的覆盖率和来源，明确说“市场开始提，但还没进要求，不算你的缺口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个创新点是幻觉防控，这也是赛题明确要求的。我们不靠提示词祈祷，而是把大模型输出放进十道确定性闸门。抽取时每一项必须带原文摘录，摘录在原文里命不中直接丢弃；技能名走三层归一，跨语言或缩写关系只能生成合并提案由人核对；入池门、判定票门看的是覆盖率和独立源票数，模型改不了；置信层低的永不自动入谱；审核闸默认人审，自动审核开启也要独立模型复核；发布校验守数量上限和异常增长；最后发布版本是不可变事实集，可以回滚。诊断侧同样：匹配分由规则算，模型解释每条带证据 ID，缺失只能写“未找到”。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第二个创新点讲大模型、图谱、检索三者的协同方式，我们叫读算分离。大模型做四件“读”的事：JSON 抽取、簇判别、岗位定义起草、诊断解释。规则和图谱做所有“算”的事：覆盖率、判定票、状态机、匹配分、换档条件。交叉验证体现在独立源：一个结论要成立，必须有至少两家不同公司的 JD 支持，同一公司多渠道不重复计票。检索增强不是把 JD 喂进上下文让模型总结，而是把图谱里已发布的要求边、证据和简历证据片段作为结构化输入，模型只能在这些 ID 上引用。这让每条输出都能被评委和用户点开核对。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可验证性。我们建了三套各 100 条的金标：JD 解析、简历提取、匹配缺口集，全部用图谱 Skill.id 标注，对齐阈值冻结在 freeze.json 里，评测只读这个文件。金标由大模型起草、人逐条回看原文裁决，修订走两段规程，禁止照着系统预测改金标。最近一次未 mock 结果：简历提取和匹配都是 1.000，JD 解析 0.930，三项都过了 0.90 线；差距样本和复跑记录写在 summary.md 里，我们没有改金标凑数。单测 179 通过，覆盖率 69.67%，高于 60% 门槛，核心管线模块覆盖率都在 80% 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系统实现。仓库是 monorepo：apps/api 是 FastAPI，apps/web 是 Next.js，data 目录放 JD 快照、金标和图谱快照。docker compose up 一键起 web、api、pipeline、neo4j、redis 五个服务，pipeline 容器每日采集加抽取。测试用独立的 neo4j-test profile，pytest 固定连测试库，连不上直接报错，保证永远不会污染产品图。空卷导入快照几分钟就能复现完整图谱，评委可以在自己机器上跑起来。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总结四点：多源可信、自动演化、读算分离、可验证。智演不是又一个岗位百科，而是一张每条边都能点到证据的图谱，和一份求职者能逐条核对的方向结论。感谢评委，请指正。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20040" y="0"/>
            <a:ext cx="54864" cy="685800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685800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「挑战杯」揭榜挂帅专项赛 · 科大讯飞发榜 · 赛题编号 XH-202621</a:t>
            </a:r>
            <a:endParaRPr sz="13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105156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4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多源异构数据驱动岗位和能力图谱构建
与动态演化分析研究</a:t>
            </a:r>
            <a:endParaRPr sz="34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971800"/>
            <a:ext cx="1463040" cy="27432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105156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智演 </a:t>
            </a:r>
            <a:r>
              <a:rPr sz="3000" b="1" i="0">
                <a:solidFill>
                  <a:srgbClr val="C8791B"/>
                </a:solidFill>
                <a:latin typeface="Helvetica Neue" panose="02000503000000020004"/>
                <a:ea typeface="PingFang SC" panose="020B0400000000000000" charset="-122"/>
              </a:rPr>
              <a:t>JobEvolution</a:t>
            </a:r>
            <a:endParaRPr sz="3000" b="1" i="0">
              <a:solidFill>
                <a:srgbClr val="C8791B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从 53 个企业官方招聘门户长出可对账的岗位能力图谱：发现新岗位、记录既有岗位要求怎么变、对着一份简历给出方向结论</a:t>
            </a:r>
            <a:endParaRPr sz="14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53</a:t>
            </a:r>
            <a:endParaRPr sz="30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5239512"/>
            <a:ext cx="21945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企业官方招聘门户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91840" y="461772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3,595</a:t>
            </a:r>
            <a:endParaRPr sz="30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91840" y="5239512"/>
            <a:ext cx="21945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去重 JD 快照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0" y="461772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4 / 17</a:t>
            </a:r>
            <a:endParaRPr sz="30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0" y="5239512"/>
            <a:ext cx="21945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领域 / 规范岗位靶子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46720" y="461772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≥90%</a:t>
            </a:r>
            <a:endParaRPr sz="30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46720" y="5239512"/>
            <a:ext cx="21945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简历提取与匹配 F1 口径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5897880"/>
            <a:ext cx="10058400" cy="7937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参赛单位：</a:t>
            </a:r>
            <a:r>
              <a:rPr lang="zh-CN"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广东机电职业技术学院</a:t>
            </a: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　　</a:t>
            </a:r>
            <a:endParaRPr sz="12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团队成员：</a:t>
            </a:r>
            <a:r>
              <a:rPr lang="zh-CN" altLang="en-US"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柯堞旋、梁垅世、卜心仪、何嘉莹、罗燕、李桂阳、劳美恩、刁彦琪</a:t>
            </a: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　　</a:t>
            </a:r>
            <a:endParaRPr sz="12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指导教师：</a:t>
            </a:r>
            <a:r>
              <a:rPr lang="zh-CN"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何康健、方楚楠、周文婕</a:t>
            </a:r>
            <a:endParaRPr sz="12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01 问题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岗位在变，但求职者拿到的是一份静态描述</a:t>
            </a:r>
            <a:endParaRPr sz="26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劳动力市场的岗位名和技能点每季度都在变；现有做法既跟不上，也不可信</a:t>
            </a:r>
            <a:endParaRPr sz="13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智演 JobEvolution · XH-202621 多源异构数据驱动岗位和能力图谱构建与动态演化分析研究</a:t>
            </a:r>
            <a:endParaRPr sz="9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02</a:t>
            </a:r>
            <a:endParaRPr sz="10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3566160" cy="23317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54864" cy="233172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1984248"/>
            <a:ext cx="3246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时滞</a:t>
            </a:r>
            <a:endParaRPr sz="16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2377439"/>
            <a:ext cx="324612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岗位名称与要求每季度变化，人工维护的岗位字典滞后 6–12 个月；
新岗位（如 Agent 工程师）何时从既有岗位拆出，没有可追溯的判定依据。</a:t>
            </a:r>
            <a:endParaRPr sz="12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15968" y="1874519"/>
            <a:ext cx="3566160" cy="23317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15968" y="1874519"/>
            <a:ext cx="54864" cy="233172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98848" y="1984248"/>
            <a:ext cx="3246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噪声与抄袭</a:t>
            </a:r>
            <a:endParaRPr sz="16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98848" y="2377439"/>
            <a:ext cx="324612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同一 JD 被多渠道转发、模板化抄写，重复计票放大伪信号；
“沟通能力”“GPT-4”等通用素质与模型品牌混入技能点，污染要求边。</a:t>
            </a:r>
            <a:endParaRPr sz="12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083296" y="1874519"/>
            <a:ext cx="3566160" cy="23317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83296" y="1874519"/>
            <a:ext cx="54864" cy="233172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66175" y="1984248"/>
            <a:ext cx="3246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幻觉</a:t>
            </a:r>
            <a:endParaRPr sz="16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66175" y="2377439"/>
            <a:ext cx="324612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直接让大模型生成岗位画像或匹配报告，结论无法回到原文；
一个 0–100 的匹配分看起来精确，却没人能解释它从哪里来。</a:t>
            </a:r>
            <a:endParaRPr sz="12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C8791B"/>
                </a:solidFill>
                <a:latin typeface="Helvetica Neue" panose="02000503000000020004"/>
                <a:ea typeface="PingFang SC" panose="020B0400000000000000" charset="-122"/>
              </a:rPr>
              <a:t>我们的设计目标</a:t>
            </a:r>
            <a:endParaRPr sz="1300" b="1" i="0">
              <a:solidFill>
                <a:srgbClr val="C8791B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每一条岗位要求都能点到原文证据和独立来源；拿不出证据的不进图谱。</a:t>
            </a:r>
            <a:endParaRPr sz="13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岗位状态、技能入池、要求性质、匹配档位全部由确定性规则从证据计票得出；大模型只负责“读”，不负责“算”。</a:t>
            </a:r>
            <a:endParaRPr sz="13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求职者看到的是可核对的方向结论、缺口与换档条件，不是一个大数字。</a:t>
            </a:r>
            <a:endParaRPr sz="13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02 赛题对应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赛题四项核心功能与本作品的落点</a:t>
            </a:r>
            <a:endParaRPr sz="26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智演 JobEvolution · XH-202621 多源异构数据驱动岗位和能力图谱构建与动态演化分析研究</a:t>
            </a:r>
            <a:endParaRPr sz="9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03</a:t>
            </a:r>
            <a:endParaRPr sz="10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828800"/>
          <a:ext cx="11064240" cy="4096512"/>
        </p:xfrm>
        <a:graphic>
          <a:graphicData uri="http://schemas.openxmlformats.org/drawingml/2006/table">
            <a:tbl>
              <a:tblPr/>
              <a:tblGrid>
                <a:gridCol w="2377440"/>
                <a:gridCol w="6309360"/>
                <a:gridCol w="237744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赛题要求</a:t>
                      </a:r>
                      <a:endParaRPr sz="1100" b="1" i="0">
                        <a:solidFill>
                          <a:srgbClr val="FFFFF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本作品实现</a:t>
                      </a:r>
                      <a:endParaRPr sz="1100" b="1" i="0">
                        <a:solidFill>
                          <a:srgbClr val="FFFFF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落点</a:t>
                      </a:r>
                      <a:endParaRPr sz="1100" b="1" i="0">
                        <a:solidFill>
                          <a:srgbClr val="FFFFF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① 新岗位发现与定义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未对齐 17 个规范岗位靶子的 JD → bge 嵌入层次聚类 → LLM 三分类（新岗位 / 别名 / 噪声）→ 状态机 候选→萌芽→成型；岗位定义带证据、需审批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/discover 市场变化卷宗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② 既有岗位能力动态更新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每周期重算簇内覆盖率（≥30% 入池）与要求判定票（明确票 ≥60% ∧ ≥2 独立源）；旧边写 valid_to 不删除，切片差分标新增 / 升值 / 失效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/graph 岗位工作台 · /admin 待审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③ 全景图谱到技能点粒度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六类节点（领域 / 岗位 / 技能类目 / 技能点 / 证据 / 演化事件）；按领域、技术栈类目、熟练级切换；必备 / 加分 / 观测中分组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/graph 图谱与要求清单双视图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④ 人岗匹配诊断与差距分析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PDF/docx 简历解析并校对 → 岗位推荐序 → 双岗确定性对照（档位 / 缺口集 / 换档条件）→ 模型解释每条带证据 ID → 双轨行动清单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/diagnose 五步诊断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创新：多源清洗与交叉验证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fingerprint 幂等 · simhash 近重 · 独立源 = 规范化公司 · 双时间戳 · 通用素质与模型品牌出边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collectors / pipeline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创新：幻觉防控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原文回指 → 三层归一 → 入池门 → 判定票门 → 置信层 → 审核闸 → 发布校验，共十道闸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pipeline/gate · diagnostic_release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可验证性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100 条 JD / 100 份简历 / 100 对匹配金标；set-based F1；pytest-cov 门槛 60%；Docker Compose 一键部署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data/eval-official-only · tests/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03 总体设计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六层架构：数据从官方门户向上长成图谱，再服务于诊断</a:t>
            </a:r>
            <a:endParaRPr sz="26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智演 JobEvolution · XH-202621 多源异构数据驱动岗位和能力图谱构建与动态演化分析研究</a:t>
            </a:r>
            <a:endParaRPr sz="9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04</a:t>
            </a:r>
            <a:endParaRPr sz="10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pic>
        <p:nvPicPr>
          <p:cNvPr id="10" name="Picture 9" descr="fig_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36" y="1783080"/>
            <a:ext cx="6440846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1828800"/>
            <a:ext cx="3931920" cy="4480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1" i="0">
                <a:solidFill>
                  <a:srgbClr val="C8791B"/>
                </a:solidFill>
                <a:latin typeface="Helvetica Neue" panose="02000503000000020004"/>
                <a:ea typeface="PingFang SC" panose="020B0400000000000000" charset="-122"/>
              </a:rPr>
              <a:t>技术选型</a:t>
            </a:r>
            <a:endParaRPr sz="1400" b="1" i="0">
              <a:solidFill>
                <a:srgbClr val="C8791B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前端  Next.js 15 · React 19 · TypeScript；React Flow + d3-force（Web Worker 布局）</a:t>
            </a:r>
            <a:endParaRPr sz="12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服务  Python 3.12 · FastAPI · Pydantic；SSE 推送审核与管线事件</a:t>
            </a:r>
            <a:endParaRPr sz="12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存储  Neo4j 5 Community（图谱、证据、演化事件、发布版本）· Redis 7 AOF（简历会话 TTL 1h、指纹、事件流）</a:t>
            </a:r>
            <a:endParaRPr sz="12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模型  OpenAI 兼容接口（DeepSeek / B.AI / Tuzi），JSON 模式、非思考；嵌入 BAAI/bge-m3</a:t>
            </a:r>
            <a:endParaRPr sz="12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部署  Docker Compose 五服务 + 测试库 profile；GitHub Actions CI 跑 mock 评测与覆盖率门槛</a:t>
            </a:r>
            <a:endParaRPr sz="12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原则  大模型只“读”不“算”；每条要求边可回到原文；旧事实写失效时间不删除</a:t>
            </a:r>
            <a:endParaRPr sz="12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04 多源异构数据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53 个企业官方门户 · 3,595 条去重 JD · 四类问题各有一把确定性的刀</a:t>
            </a:r>
            <a:endParaRPr sz="26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智演 JobEvolution · XH-202621 多源异构数据驱动岗位和能力图谱构建与动态演化分析研究</a:t>
            </a:r>
            <a:endParaRPr sz="9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05</a:t>
            </a:r>
            <a:endParaRPr sz="10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256032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53</a:t>
            </a:r>
            <a:endParaRPr sz="30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2"/>
            <a:ext cx="25603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启用的官方招聘门户（飞书 / 腾讯 / 字节 / 北森）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91840" y="1783080"/>
            <a:ext cx="256032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4 类</a:t>
            </a:r>
            <a:endParaRPr sz="30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91840" y="2404872"/>
            <a:ext cx="25603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ATS 门户适配器，统一 JD 快照结构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5040" y="1783080"/>
            <a:ext cx="256032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3,595</a:t>
            </a:r>
            <a:endParaRPr sz="30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35040" y="2404872"/>
            <a:ext cx="25603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去重后的 JD 快照，双时间戳落盘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78240" y="1783080"/>
            <a:ext cx="256032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≤3</a:t>
            </a:r>
            <a:endParaRPr sz="30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78240" y="2404872"/>
            <a:ext cx="25603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simhash 64 位海明距离阈值，近重只留最早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154680"/>
          <a:ext cx="11064240" cy="2743200"/>
        </p:xfrm>
        <a:graphic>
          <a:graphicData uri="http://schemas.openxmlformats.org/drawingml/2006/table">
            <a:tbl>
              <a:tblPr/>
              <a:tblGrid>
                <a:gridCol w="1280160"/>
                <a:gridCol w="6949440"/>
                <a:gridCol w="28346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问题</a:t>
                      </a:r>
                      <a:endParaRPr sz="1100" b="1" i="0">
                        <a:solidFill>
                          <a:srgbClr val="FFFFF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确定性对策</a:t>
                      </a:r>
                      <a:endParaRPr sz="1100" b="1" i="0">
                        <a:solidFill>
                          <a:srgbClr val="FFFFF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实现位置</a:t>
                      </a:r>
                      <a:endParaRPr sz="1100" b="1" i="0">
                        <a:solidFill>
                          <a:srgbClr val="FFFFF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时滞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每日增量采集，连续两页指纹未变即提前停止；observed_at 与 valid_from / valid_to 分开；本周期切片差分直接标新增 / 升值 / 失效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collectors · Evidence.observed_at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噪声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只取职责段与要求段；通用素质（沟通、团队协作）不进技能点；模型品牌默认留在证据中，从同句动作抽 API 集成 / 部署 / 微调 / 评测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pipeline/sections · extract 提示词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抄袭 / 重复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正文 sha256 fingerprint 幂等；simhash 近重不计票；独立源 = 规范化公司名，渠道不计票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collectors/dedupe · gate.summarize_requirement_votes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通胀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斜杠并列拆开、原文“任选 / 或”建要求组读 min_required；发布上限 12 必备 / 24 正式；新增超 50% 记岗位要求异常并暂停诊断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pipeline/diagnostic_release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05 功能一 · 新岗位发现与定义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候选 → 萌芽 → 成型：岗位状态由独立源计票自动流转，不手写</a:t>
            </a:r>
            <a:endParaRPr sz="26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智演 JobEvolution · XH-202621 多源异构数据驱动岗位和能力图谱构建与动态演化分析研究</a:t>
            </a:r>
            <a:endParaRPr sz="9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06</a:t>
            </a:r>
            <a:endParaRPr sz="10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pic>
        <p:nvPicPr>
          <p:cNvPr id="10" name="Picture 9" descr="fig_stat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019" y="1783080"/>
            <a:ext cx="5296600" cy="2606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480560"/>
            <a:ext cx="630936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C8791B"/>
                </a:solidFill>
                <a:latin typeface="Helvetica Neue" panose="02000503000000020004"/>
                <a:ea typeface="PingFang SC" panose="020B0400000000000000" charset="-122"/>
              </a:rPr>
              <a:t>赛题示例：Agent 工程师</a:t>
            </a:r>
            <a:endParaRPr sz="1300" b="1" i="0">
              <a:solidFill>
                <a:srgbClr val="C8791B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从大模型应用工程师簇中分离；独立源 ≥3 后进入萌芽，卷宗记录首次出现时间、招聘公司、本周期新增要求与相近岗位差异。</a:t>
            </a:r>
            <a:endParaRPr sz="12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「大模型应用开发工程师」由 LLM 簇判别为别名，写 ALIAS_OF 并入既有岗，不占候选列。</a:t>
            </a:r>
            <a:endParaRPr sz="12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岗位定义（一句定义 + 3–5 条典型职责）由模型起草、每条带证据，管理员批准后才公开；未获批显示“岗位定义审核中”。</a:t>
            </a:r>
            <a:endParaRPr sz="12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14032" y="1764792"/>
            <a:ext cx="4517136" cy="2834640"/>
          </a:xfrm>
          <a:prstGeom prst="rect">
            <a:avLst/>
          </a:prstGeom>
          <a:noFill/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discover_490x3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783080"/>
            <a:ext cx="4480560" cy="2798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32320" y="4663440"/>
            <a:ext cx="44805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市场变化页：候选 / 萌芽 / 成型筛选，公司按规范名去重</a:t>
            </a:r>
            <a:endParaRPr sz="10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0" y="5029200"/>
            <a:ext cx="448056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阈值（pipeline/constants.py）</a:t>
            </a:r>
            <a:endParaRPr sz="12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Menlo" panose="020B0609030804020204"/>
                <a:ea typeface="PingFang SC" panose="020B0400000000000000" charset="-122"/>
              </a:rPr>
              <a:t>DISCOVER_MIN_CLUSTER 3 · EMERGING_SOURCES 3 · EMERGING_WINDOW_DAYS 90 · FORMED_SOURCES 10 · FORMED_MONTHS 6 · JOB_ALIGN_THRESHOLD 0.84</a:t>
            </a:r>
            <a:endParaRPr sz="1100" b="0" i="0">
              <a:solidFill>
                <a:srgbClr val="5F5F5F"/>
              </a:solidFill>
              <a:latin typeface="Menlo" panose="020B0609030804020204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06 功能二 · 既有岗位能力动态更新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每份去重 JD 只投一张票；入池看覆盖率，要求性质看判定票</a:t>
            </a:r>
            <a:endParaRPr sz="26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智演 JobEvolution · XH-202621 多源异构数据驱动岗位和能力图谱构建与动态演化分析研究</a:t>
            </a:r>
            <a:endParaRPr sz="9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07</a:t>
            </a:r>
            <a:endParaRPr sz="10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5120640" cy="4480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C8791B"/>
                </a:solidFill>
                <a:latin typeface="Helvetica Neue" panose="02000503000000020004"/>
                <a:ea typeface="PingFang SC" panose="020B0400000000000000" charset="-122"/>
              </a:rPr>
              <a:t>三道门</a:t>
            </a:r>
            <a:endParaRPr sz="1400" b="1" i="0">
              <a:solidFill>
                <a:srgbClr val="C8791B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入池门  职责 / 要求段 ∧ 簇内覆盖率 ≥30%；否则标“观测中”，不是缺口</a:t>
            </a:r>
            <a:endParaRPr sz="12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判定票门  明确必备或明确加分票 ≥60% 已分类票 ∧ ≥2 独立源；否则只生成提案</a:t>
            </a:r>
            <a:endParaRPr sz="12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置信层  高 / 中 / 低；低层永不自动入谱，自动审核开关默认关，开启后仍需独立审核模型复核</a:t>
            </a:r>
            <a:endParaRPr sz="12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C8791B"/>
                </a:solidFill>
                <a:latin typeface="Helvetica Neue" panose="02000503000000020004"/>
                <a:ea typeface="PingFang SC" panose="020B0400000000000000" charset="-122"/>
              </a:rPr>
              <a:t>切片差分</a:t>
            </a:r>
            <a:endParaRPr sz="1400" b="1" i="0">
              <a:solidFill>
                <a:srgbClr val="C8791B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本周期覆盖率上升并刚过入池线 → 升值；失效写 valid_to → 可后补；新增 / 升值 / 失效三组文字清单，不让用户从画布猜</a:t>
            </a:r>
            <a:endParaRPr sz="12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C8791B"/>
                </a:solidFill>
                <a:latin typeface="Helvetica Neue" panose="02000503000000020004"/>
                <a:ea typeface="PingFang SC" panose="020B0400000000000000" charset="-122"/>
              </a:rPr>
              <a:t>发布校验</a:t>
            </a:r>
            <a:endParaRPr sz="1400" b="1" i="0">
              <a:solidFill>
                <a:srgbClr val="C8791B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定义非空、证据存在且未撤回、无重复有效要求、要求等价数 ≤12 必备 / ≤24 正式；新增超 max(3, 上期×50%) 记异常，只暂停该岗诊断</a:t>
            </a:r>
            <a:endParaRPr sz="12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示例  大模型应用工程师 2026-09-02 校准发布：12 条必备 / 23 条正式；通用素质与模型品牌以 valid_to 失效、可回滚</a:t>
            </a:r>
            <a:endParaRPr sz="115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25312" y="1764792"/>
            <a:ext cx="5705856" cy="3579876"/>
          </a:xfrm>
          <a:prstGeom prst="rect">
            <a:avLst/>
          </a:prstGeom>
          <a:noFill/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admin-queue_620x38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83080"/>
            <a:ext cx="5669280" cy="3543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0" y="5394960"/>
            <a:ext cx="56692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管理后台：按岗位与待发布版本分组，展示上期 / 本期要求等价数、三类要求判定票与最短原文；一键全部批准仍执行确定性校验，审计记录保存会话、时间、提案 ID 与放行理由。</a:t>
            </a:r>
            <a:endParaRPr sz="105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07 功能三 · 全景图谱可视化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六类节点到技能点粒度，按领域 / 技术栈 / 熟练级切换</a:t>
            </a:r>
            <a:endParaRPr sz="26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每个技能点可打开证据抽屉；级别写在要求边上，岗位不按初高级分裂</a:t>
            </a:r>
            <a:endParaRPr sz="13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智演 JobEvolution · XH-202621 多源异构数据驱动岗位和能力图谱构建与动态演化分析研究</a:t>
            </a:r>
            <a:endParaRPr sz="9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08</a:t>
            </a:r>
            <a:endParaRPr sz="10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0352" y="1764792"/>
            <a:ext cx="6986016" cy="4379976"/>
          </a:xfrm>
          <a:prstGeom prst="rect">
            <a:avLst/>
          </a:prstGeom>
          <a:noFill/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graph_760x47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949440" cy="434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172200"/>
            <a:ext cx="69494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岗位工作台 /graph：岗位说明区 · 领域 / 类目 / 级别筛选 · 图谱 / 要求清单切换 · 切片差分与判定摘要</a:t>
            </a:r>
            <a:endParaRPr sz="10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pic>
        <p:nvPicPr>
          <p:cNvPr id="14" name="Picture 13" descr="fig_ont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793981"/>
            <a:ext cx="3931920" cy="19898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6679" y="3886200"/>
            <a:ext cx="3931920" cy="2468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本体六类：Domain · Job · SkillCategory · Skill · Evidence · EvolutionEvent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REQUIRES 边属性：kind 必备/加分 · proficiency 熟练级 · valid_from/valid_to · confidence · layer · sources[] · group_id/min_required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切换维度：领域 → 岗位 → 技能类目（语言 / 框架 / 平台 / 工程 / 领域知识）→ 熟练级（aware / able / expert）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求职者文案用人话：独立源 = “去重招聘公司”，切片 = “截至某日的岗位要求”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08 功能四 · 人岗匹配诊断与差距分析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确定性匹配算档位与缺口，大模型只解释、每条判断带证据 ID</a:t>
            </a:r>
            <a:endParaRPr sz="26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智演 JobEvolution · XH-202621 多源异构数据驱动岗位和能力图谱构建与动态演化分析研究</a:t>
            </a:r>
            <a:endParaRPr sz="9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09</a:t>
            </a:r>
            <a:endParaRPr sz="10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pic>
        <p:nvPicPr>
          <p:cNvPr id="10" name="Picture 9" descr="fig_diagno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663" y="1737360"/>
            <a:ext cx="6639072" cy="26974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06640" y="1783080"/>
            <a:ext cx="4206240" cy="25146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406640" y="1783080"/>
            <a:ext cx="54864" cy="251460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89519" y="1892807"/>
            <a:ext cx="3886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确定性计分</a:t>
            </a:r>
            <a:endParaRPr sz="14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19" y="2286000"/>
            <a:ext cx="388620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匹配分 = 100 × (必备覆盖 + 0.3 × 加分覆盖) / (必备满分 + 0.3 × 加分满分)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熟练级低一级记半档 0.5；加分缺失不伤必备；经验、学历只作旁注不进档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档位：≥0.85 高度匹配 · ≥0.60 基本匹配 · ≥0.35 有明显差距 · 其余不匹配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440680" cy="178308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48640" y="4526280"/>
            <a:ext cx="54864" cy="178308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463600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缺口集与换档条件</a:t>
            </a:r>
            <a:endParaRPr sz="14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5120640" cy="11887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缺口 = 已发布必备要求中简历无证据或熟练级不足者；要求组按 min_required 对账，不重复制造缺口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换档条件 shift_set：单独一项能升档者排前，成对才能换档者次之；学习路径按此排序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2200" y="4526280"/>
            <a:ext cx="5440680" cy="178308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172200" y="4526280"/>
            <a:ext cx="54864" cy="178308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55080" y="463600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简历证据级</a:t>
            </a:r>
            <a:endParaRPr sz="14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55080" y="5029200"/>
            <a:ext cx="5120640" cy="11887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提及（技能栏 / 自我评价）· 使用（经历写明任务中的使用）· 结果（本人责任 + 数字 / 交付物）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最高只有提及记“简历证据不足”；证据级不进匹配分，只进方向结论与改写建议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09 诊断报告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首屏一句方向结论；结论 / 行动 / 依据三视图；四个产品记忆点</a:t>
            </a:r>
            <a:endParaRPr sz="26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智演 JobEvolution · XH-202621 多源异构数据驱动岗位和能力图谱构建与动态演化分析研究</a:t>
            </a:r>
            <a:endParaRPr sz="9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10</a:t>
            </a:r>
            <a:endParaRPr sz="10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0352" y="1764792"/>
            <a:ext cx="6620256" cy="4041648"/>
          </a:xfrm>
          <a:prstGeom prst="rect">
            <a:avLst/>
          </a:prstGeom>
          <a:noFill/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diagnose-report-detail3_720x43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583680" cy="40050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852160"/>
            <a:ext cx="65836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单岗结论视图：方向结论 → 简历定位判断 → 关键优势 / 主要风险（每条可打开简历证据片段）→ 档位与换档条件</a:t>
            </a:r>
            <a:endParaRPr sz="10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406640" y="1783080"/>
            <a:ext cx="4206240" cy="93268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406640" y="1783080"/>
            <a:ext cx="54864" cy="932688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589520" y="1856231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换档模拟器</a:t>
            </a:r>
            <a:endParaRPr sz="125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89520" y="2148840"/>
            <a:ext cx="39319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只接受缺口、熟练级不足、要求组候选技能；即时重算两岗与邻近岗；固定标“假设结果，尚未被简历证明”</a:t>
            </a:r>
            <a:endParaRPr sz="10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406640" y="2807208"/>
            <a:ext cx="4206240" cy="93268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406640" y="2807208"/>
            <a:ext cx="54864" cy="932688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89520" y="2880360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简历证据地图</a:t>
            </a:r>
            <a:endParaRPr sz="125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89520" y="3172968"/>
            <a:ext cx="39319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左列经历 / 项目证据片段，右列正式要求，连线标提及 / 使用 / 结果；未连接的要求写“简历未找到证据”</a:t>
            </a:r>
            <a:endParaRPr sz="10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406640" y="3831336"/>
            <a:ext cx="4206240" cy="93268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406640" y="3831336"/>
            <a:ext cx="54864" cy="932688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89520" y="3904488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邻近岗位迁移地图</a:t>
            </a:r>
            <a:endParaRPr sz="125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89520" y="4197096"/>
            <a:ext cx="39319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两个对照岗 + 推荐序中一个邻近岗；逐岗给当前档位、最小换档技能数、共享能力、独有要求</a:t>
            </a:r>
            <a:endParaRPr sz="10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406640" y="4855464"/>
            <a:ext cx="4206240" cy="93268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7406640" y="4855464"/>
            <a:ext cx="54864" cy="932688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89520" y="4928616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市场信号雷达</a:t>
            </a:r>
            <a:endParaRPr sz="125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89520" y="5221224"/>
            <a:ext cx="393192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观测中技能按覆盖率、独立源、周期变化列出，并说明未进要求的原因；不算缺口</a:t>
            </a:r>
            <a:endParaRPr sz="10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06640" y="5897880"/>
            <a:ext cx="4206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双轨行动清单：简历证明轨（五条优先改写，原文 → 问题 → 建议版本 → 待补事实）+ 能力提升轨（≤3 项，按换档条件）</a:t>
            </a:r>
            <a:endParaRPr sz="10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10 创新一 · 幻觉防控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十道闸门：未过只降级，不进正式图谱</a:t>
            </a:r>
            <a:endParaRPr sz="26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任何一道未过只降级为观测中 / 审核提案 / 暂停诊断；大模型输出从不直接成为事实</a:t>
            </a:r>
            <a:endParaRPr sz="13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智演 JobEvolution · XH-202621 多源异构数据驱动岗位和能力图谱构建与动态演化分析研究</a:t>
            </a:r>
            <a:endParaRPr sz="9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11</a:t>
            </a:r>
            <a:endParaRPr sz="10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pic>
        <p:nvPicPr>
          <p:cNvPr id="11" name="Picture 10" descr="fig_gat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8146" y="1737360"/>
            <a:ext cx="8945227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709160"/>
            <a:ext cx="361188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C8791B"/>
                </a:solidFill>
                <a:latin typeface="Helvetica Neue" panose="02000503000000020004"/>
                <a:ea typeface="PingFang SC" panose="020B0400000000000000" charset="-122"/>
              </a:rPr>
              <a:t>构建侧</a:t>
            </a:r>
            <a:endParaRPr sz="1200" b="1" i="0">
              <a:solidFill>
                <a:srgbClr val="C8791B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原文回指：摘录必须在 JD 原文命中</a:t>
            </a:r>
            <a:endParaRPr sz="10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三层归一：表面归一 → 获批同义词 → bge 余弦 ≥0.70；相关技术禁止合并</a:t>
            </a:r>
            <a:endParaRPr sz="10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入池门 30% · 判定票门 60% ∧ 2 独立源</a:t>
            </a:r>
            <a:endParaRPr sz="10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置信层：低层永不自动入谱</a:t>
            </a:r>
            <a:endParaRPr sz="10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审核闸：人工批 / 改 / 驳；自动审核需独立模型复核</a:t>
            </a:r>
            <a:endParaRPr sz="10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79392" y="4709160"/>
            <a:ext cx="361188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C8791B"/>
                </a:solidFill>
                <a:latin typeface="Helvetica Neue" panose="02000503000000020004"/>
                <a:ea typeface="PingFang SC" panose="020B0400000000000000" charset="-122"/>
              </a:rPr>
              <a:t>发布侧</a:t>
            </a:r>
            <a:endParaRPr sz="1200" b="1" i="0">
              <a:solidFill>
                <a:srgbClr val="C8791B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定义非空、证据存在且未撤回、无重复有效要求</a:t>
            </a:r>
            <a:endParaRPr sz="10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等价数上限 12 必备 / 24 正式</a:t>
            </a:r>
            <a:endParaRPr sz="10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新增超 max(3, 上期×50%) → 岗位要求异常，暂停该岗诊断</a:t>
            </a:r>
            <a:endParaRPr sz="10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发布版本不可变，可回滚；撤回 ≠ 演化</a:t>
            </a:r>
            <a:endParaRPr sz="10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10144" y="4709160"/>
            <a:ext cx="361188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 i="0">
                <a:solidFill>
                  <a:srgbClr val="C8791B"/>
                </a:solidFill>
                <a:latin typeface="Helvetica Neue" panose="02000503000000020004"/>
                <a:ea typeface="PingFang SC" panose="020B0400000000000000" charset="-122"/>
              </a:rPr>
              <a:t>诊断侧</a:t>
            </a:r>
            <a:endParaRPr sz="1200" b="1" i="0">
              <a:solidFill>
                <a:srgbClr val="C8791B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匹配分、档位、缺口集由 bands.py 确定性计算</a:t>
            </a:r>
            <a:endParaRPr sz="10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模型解释不合成分数，每条判断带证据 ID</a:t>
            </a:r>
            <a:endParaRPr sz="10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缺失项只能写“简历中未找到”，并标明检查了哪个部分</a:t>
            </a:r>
            <a:endParaRPr sz="10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改写建议不得生成原文没有的数字与结果，只给待补占位</a:t>
            </a:r>
            <a:endParaRPr sz="10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11 创新二 · 多源交叉验证与“读算分离”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大模型只负责读，图谱与规则负责算；结论必须能回到证据与来源</a:t>
            </a:r>
            <a:endParaRPr sz="26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智演 JobEvolution · XH-202621 多源异构数据驱动岗位和能力图谱构建与动态演化分析研究</a:t>
            </a:r>
            <a:endParaRPr sz="9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12</a:t>
            </a:r>
            <a:endParaRPr sz="10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566160" cy="219456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54864" cy="219456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1892807"/>
            <a:ext cx="3246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大模型只“读”</a:t>
            </a:r>
            <a:endParaRPr sz="14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3246120" cy="1600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JSON 模式抽取技能点，每项带原文摘录与段落来源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对聚类簇做三分类：新岗位 / 别名 / 噪声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起草岗位定义与金标草稿（ADR-0011：LLM 起草、人裁决）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诊断解释：方向结论、优势风险、改写建议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97680" y="1783080"/>
            <a:ext cx="3566160" cy="219456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297680" y="1783080"/>
            <a:ext cx="54864" cy="219456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80560" y="1892807"/>
            <a:ext cx="3246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图谱与规则“算”</a:t>
            </a:r>
            <a:endParaRPr sz="14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80560" y="2286000"/>
            <a:ext cx="3246120" cy="1600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簇内覆盖率、要求判定票、独立源计数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岗位状态机与 ALIAS_OF 并入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匹配分、档位、缺口集、换档条件 shift_set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发布校验与岗位要求异常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46720" y="1783080"/>
            <a:ext cx="3566160" cy="219456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46720" y="1783080"/>
            <a:ext cx="54864" cy="219456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0" y="1892807"/>
            <a:ext cx="32461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结构化检索增强</a:t>
            </a:r>
            <a:endParaRPr sz="14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0" y="2286000"/>
            <a:ext cx="3246120" cy="1600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解释阶段输入的是已发布要求边、证据 ID 与简历证据片段 ID，不是整篇 JD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模型只能引用给定 ID；未引用的判断被丢弃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学习资源与岗位职责摘录一起给出“为何先补它”</a:t>
            </a:r>
            <a:endParaRPr sz="115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C8791B"/>
                </a:solidFill>
                <a:latin typeface="Helvetica Neue" panose="02000503000000020004"/>
                <a:ea typeface="PingFang SC" panose="020B0400000000000000" charset="-122"/>
              </a:rPr>
              <a:t>多源交叉验证在三个层面生效</a:t>
            </a:r>
            <a:endParaRPr sz="1300" b="1" i="0">
              <a:solidFill>
                <a:srgbClr val="C8791B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8640" y="4617720"/>
          <a:ext cx="11064240" cy="1609344"/>
        </p:xfrm>
        <a:graphic>
          <a:graphicData uri="http://schemas.openxmlformats.org/drawingml/2006/table">
            <a:tbl>
              <a:tblPr/>
              <a:tblGrid>
                <a:gridCol w="1463040"/>
                <a:gridCol w="6583680"/>
                <a:gridCol w="301752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层面</a:t>
                      </a:r>
                      <a:endParaRPr sz="1100" b="1" i="0">
                        <a:solidFill>
                          <a:srgbClr val="FFFFF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规则</a:t>
                      </a:r>
                      <a:endParaRPr sz="1100" b="1" i="0">
                        <a:solidFill>
                          <a:srgbClr val="FFFFF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解决的问题</a:t>
                      </a:r>
                      <a:endParaRPr sz="1100" b="1" i="0">
                        <a:solidFill>
                          <a:srgbClr val="FFFFF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证据层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fingerprint 幂等 · simhash 近重只留最早 · 只取官方门户不取转发站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抄袭、重复计数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岗位层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独立源 = 规范化公司名；萌芽 ≥3 源、成型 ≥10 源或 ≥6 月；别名并入不占候选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伪新岗位、名称漂移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要求层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明确票 ≥60% ∧ ≥2 独立源；覆盖率随周期重算；合并提案人工核对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单家公司偏好被当成市场要求；同义词漂移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12 可验证性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三套金标、set-based F1、覆盖率门槛与金标修订规程</a:t>
            </a:r>
            <a:endParaRPr sz="26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智演 JobEvolution · XH-202621 多源异构数据驱动岗位和能力图谱构建与动态演化分析研究</a:t>
            </a:r>
            <a:endParaRPr sz="9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13</a:t>
            </a:r>
            <a:endParaRPr sz="10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83080"/>
          <a:ext cx="11064240" cy="2523744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4023360"/>
                <a:gridCol w="2103120"/>
                <a:gridCol w="18288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指标</a:t>
                      </a:r>
                      <a:endParaRPr sz="1100" b="1" i="0">
                        <a:solidFill>
                          <a:srgbClr val="FFFFF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赛题要求</a:t>
                      </a:r>
                      <a:endParaRPr sz="1100" b="1" i="0">
                        <a:solidFill>
                          <a:srgbClr val="FFFFF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数据集</a:t>
                      </a:r>
                      <a:endParaRPr sz="1100" b="1" i="0">
                        <a:solidFill>
                          <a:srgbClr val="FFFFF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最近一次未 mock 结果</a:t>
                      </a:r>
                      <a:endParaRPr sz="1100" b="1" i="0">
                        <a:solidFill>
                          <a:srgbClr val="FFFFF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状态</a:t>
                      </a:r>
                      <a:endParaRPr sz="1100" b="1" i="0">
                        <a:solidFill>
                          <a:srgbClr val="FFFFF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JD 解析 F1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≥0.90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jd.jsonl 100 条（去重、四领域、17 岗各 ≥3）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0.930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达标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简历提取 F1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≥0.90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resume.jsonl 100 份（单栏 / 双栏、PDF / docx）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1.000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达标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匹配 F1（缺口集）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≥0.90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match_pairs.jsonl 100 对（金标简历 × 目标岗）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1.000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达标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单元测试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覆盖率 ≥60%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pytest --cov（分母排除 collectors、llm/client 网络分支）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179 passed · 69.67%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达标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JD 测试集规模</a:t>
                      </a:r>
                      <a:endParaRPr sz="110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≥100 条去重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simhash 近重只留最早；官方门户快照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100 条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达标</a:t>
                      </a:r>
                      <a:endParaRPr sz="110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480560"/>
            <a:ext cx="548640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1" i="0">
                <a:solidFill>
                  <a:srgbClr val="C8791B"/>
                </a:solidFill>
                <a:latin typeface="Helvetica Neue" panose="02000503000000020004"/>
                <a:ea typeface="PingFang SC" panose="020B0400000000000000" charset="-122"/>
              </a:rPr>
              <a:t>口径与规程</a:t>
            </a:r>
            <a:endParaRPr sz="1300" b="1" i="0">
              <a:solidFill>
                <a:srgbClr val="C8791B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预测集与金标集都先过 align_skill（读 freeze.json），对技能点集合算 P / R / F1；空对空记 1，一边空记 0</a:t>
            </a:r>
            <a:endParaRPr sz="11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匹配评测不喂解析输出：系统用金标简历技能 × 金标要求边再算缺口集，与人工缺口集比集合</a:t>
            </a:r>
            <a:endParaRPr sz="11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金标修订两段：先盲改只看原文与词表，再用系统预测找分歧逐条回原文裁决，理由写进 notes（ADR-0011）</a:t>
            </a:r>
            <a:endParaRPr sz="11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▪  CI 跑 mock 三项 + 覆盖率门槛；summary.md 数字只来自本地未 mock 跑</a:t>
            </a:r>
            <a:endParaRPr sz="11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0" y="4480560"/>
            <a:ext cx="530352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1" i="0">
                <a:solidFill>
                  <a:srgbClr val="C8791B"/>
                </a:solidFill>
                <a:latin typeface="Helvetica Neue" panose="02000503000000020004"/>
                <a:ea typeface="PingFang SC" panose="020B0400000000000000" charset="-122"/>
              </a:rPr>
              <a:t>模块覆盖率（本次 pytest-cov）</a:t>
            </a:r>
            <a:endParaRPr sz="1300" b="1" i="0">
              <a:solidFill>
                <a:srgbClr val="C8791B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sections 100% · score 98% · bands 97% · extract 94% · diagnostic_release 93% · curate_public 89% · status 88% · resume 85% · gate 81% · graph 77% · align 71%</a:t>
            </a:r>
            <a:endParaRPr sz="1100" b="0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JD 从 0.814 提升到 0.930：单段抽取、候选召回只接受精确词表命中、降并发避免截断；剩余差距在领域知识类技能召回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128016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13 系统实现与部署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D1D1F"/>
                </a:solidFill>
                <a:latin typeface="Helvetica Neue" panose="02000503000000020004"/>
                <a:ea typeface="PingFang SC" panose="020B0400000000000000" charset="-122"/>
              </a:rPr>
              <a:t>Docker Compose 一键启动五个服务；测试库独立卷，永不写产品图</a:t>
            </a:r>
            <a:endParaRPr sz="2600" b="1" i="0">
              <a:solidFill>
                <a:srgbClr val="1D1D1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1094415" cy="10972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7315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智演 JobEvolution · XH-202621 多源异构数据驱动岗位和能力图谱构建与动态演化分析研究</a:t>
            </a:r>
            <a:endParaRPr sz="9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Helvetica Neue" panose="02000503000000020004"/>
                <a:ea typeface="PingFang SC" panose="020B0400000000000000" charset="-122"/>
              </a:rPr>
              <a:t>14</a:t>
            </a:r>
            <a:endParaRPr sz="1000" b="0" i="0">
              <a:solidFill>
                <a:srgbClr val="8C8C8C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pic>
        <p:nvPicPr>
          <p:cNvPr id="10" name="Picture 9" descr="fig_deplo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93415"/>
            <a:ext cx="6400800" cy="2493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434840"/>
            <a:ext cx="640080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C8791B"/>
                </a:solidFill>
                <a:latin typeface="Helvetica Neue" panose="02000503000000020004"/>
                <a:ea typeface="PingFang SC" panose="020B0400000000000000" charset="-122"/>
              </a:rPr>
              <a:t>一键启动</a:t>
            </a:r>
            <a:endParaRPr sz="1300" b="1" i="0">
              <a:solidFill>
                <a:srgbClr val="C8791B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1D1D1F"/>
                </a:solidFill>
                <a:latin typeface="Menlo" panose="020B0609030804020204"/>
                <a:ea typeface="PingFang SC" panose="020B0400000000000000" charset="-122"/>
              </a:rPr>
              <a:t>cp .env.example .env   # 填 LLM_PROVIDER / API KEY / ADMIN_PASSWORD
docker compose up -d --build
docker compose --profile test up -d neo4j-test &amp;&amp; pytest --cov -q</a:t>
            </a:r>
            <a:endParaRPr sz="1100" b="0" i="0">
              <a:solidFill>
                <a:srgbClr val="1D1D1F"/>
              </a:solidFill>
              <a:latin typeface="Menlo" panose="020B06090308040202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5F5F5F"/>
                </a:solidFill>
                <a:latin typeface="Helvetica Neue" panose="02000503000000020004"/>
                <a:ea typeface="PingFang SC" panose="020B0400000000000000" charset="-122"/>
              </a:rPr>
              <a:t>健康检查：GET /v1/meta 返回图谱发布版本、模型供应商、简历保留策略；Neo4j 7474 与 redis-cli ping</a:t>
            </a:r>
            <a:endParaRPr sz="1100" b="0" i="0">
              <a:solidFill>
                <a:srgbClr val="5F5F5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223760" y="1783080"/>
          <a:ext cx="4389120" cy="2688336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路由</a:t>
                      </a:r>
                      <a:endParaRPr sz="1050" b="1" i="0">
                        <a:solidFill>
                          <a:srgbClr val="FFFFF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职责</a:t>
                      </a:r>
                      <a:endParaRPr sz="1050" b="1" i="0">
                        <a:solidFill>
                          <a:srgbClr val="FFFFF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1D1D1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GET /jobs · /jobs/{id} · /graph</a:t>
                      </a:r>
                      <a:endParaRPr sz="105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岗位列表、岗位切片与差分、图谱节点边</a:t>
                      </a:r>
                      <a:endParaRPr sz="105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GET /discover · /feed</a:t>
                      </a:r>
                      <a:endParaRPr sz="105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候选 / 萌芽 / 成型卷宗、总览故事流</a:t>
                      </a:r>
                      <a:endParaRPr sz="105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POST /sessions · PATCH /sessions/{id}</a:t>
                      </a:r>
                      <a:endParaRPr sz="105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简历上传解析、校对修正（Redis TTL 1h）</a:t>
                      </a:r>
                      <a:endParaRPr sz="105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POST /diagnose · /diagnose/simulate</a:t>
                      </a:r>
                      <a:endParaRPr sz="105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双岗对照报告、换档模拟</a:t>
                      </a:r>
                      <a:endParaRPr sz="105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/admin/* · SSE /events</a:t>
                      </a:r>
                      <a:endParaRPr sz="105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口令门、待审队列、批 / 改 / 驳、自动审核开关、审计</a:t>
                      </a:r>
                      <a:endParaRPr sz="105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4F1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GET /v1/meta</a:t>
                      </a:r>
                      <a:endParaRPr sz="1050" b="1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D1D1F"/>
                          </a:solidFill>
                          <a:latin typeface="Helvetica Neue" panose="02000503000000020004"/>
                          <a:ea typeface="PingFang SC" panose="020B0400000000000000" charset="-122"/>
                        </a:rPr>
                        <a:t>图谱发布版本、供应商、运行状态</a:t>
                      </a:r>
                      <a:endParaRPr sz="1050" b="0" i="0">
                        <a:solidFill>
                          <a:srgbClr val="1D1D1F"/>
                        </a:solidFill>
                        <a:latin typeface="Helvetica Neue" panose="02000503000000020004"/>
                        <a:ea typeface="PingFang SC" panose="020B0400000000000000" charset="-122"/>
                      </a:endParaRPr>
                    </a:p>
                  </a:txBody>
                  <a:tcPr marL="73152" marR="73152" marT="36576" marB="36576" anchor="ctr">
                    <a:lnL w="6350">
                      <a:solidFill>
                        <a:srgbClr val="8C8C8C"/>
                      </a:solidFill>
                    </a:lnL>
                    <a:lnR w="6350">
                      <a:solidFill>
                        <a:srgbClr val="8C8C8C"/>
                      </a:solidFill>
                    </a:lnR>
                    <a:lnT w="6350">
                      <a:solidFill>
                        <a:srgbClr val="8C8C8C"/>
                      </a:solidFill>
                    </a:lnT>
                    <a:lnB w="6350">
                      <a:solidFill>
                        <a:srgbClr val="8C8C8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223760" y="4617720"/>
            <a:ext cx="438912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C8791B"/>
                </a:solidFill>
                <a:latin typeface="Helvetica Neue" panose="02000503000000020004"/>
                <a:ea typeface="PingFang SC" panose="020B0400000000000000" charset="-122"/>
              </a:rPr>
              <a:t>代码组织</a:t>
            </a:r>
            <a:endParaRPr sz="1300" b="1" i="0">
              <a:solidFill>
                <a:srgbClr val="C8791B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1D1D1F"/>
                </a:solidFill>
                <a:latin typeface="Menlo" panose="020B0609030804020204"/>
                <a:ea typeface="PingFang SC" panose="020B0400000000000000" charset="-122"/>
              </a:rPr>
              <a:t>apps/api/app/{collectors, pipeline, matching, eval, llm, graph}</a:t>
            </a:r>
            <a:endParaRPr sz="1100" b="0" i="0">
              <a:solidFill>
                <a:srgbClr val="1D1D1F"/>
              </a:solidFill>
              <a:latin typeface="Menlo" panose="020B06090308040202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1D1D1F"/>
                </a:solidFill>
                <a:latin typeface="Menlo" panose="020B0609030804020204"/>
                <a:ea typeface="PingFang SC" panose="020B0400000000000000" charset="-122"/>
              </a:rPr>
              <a:t>apps/web/app/{graph, discover, diagnose, admin} + components</a:t>
            </a:r>
            <a:endParaRPr sz="1100" b="0" i="0">
              <a:solidFill>
                <a:srgbClr val="1D1D1F"/>
              </a:solidFill>
              <a:latin typeface="Menlo" panose="020B06090308040202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1D1D1F"/>
                </a:solidFill>
                <a:latin typeface="Menlo" panose="020B0609030804020204"/>
                <a:ea typeface="PingFang SC" panose="020B0400000000000000" charset="-122"/>
              </a:rPr>
              <a:t>data/{official-only, eval-official-only, snapshot}</a:t>
            </a:r>
            <a:endParaRPr sz="1100" b="0" i="0">
              <a:solidFill>
                <a:srgbClr val="1D1D1F"/>
              </a:solidFill>
              <a:latin typeface="Menlo" panose="020B06090308040202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1D1D1F"/>
                </a:solidFill>
                <a:latin typeface="Menlo" panose="020B0609030804020204"/>
                <a:ea typeface="PingFang SC" panose="020B0400000000000000" charset="-122"/>
              </a:rPr>
              <a:t>docs/{product, tech, verification, adr/}  ·  CONTEXT.md 术语权威</a:t>
            </a:r>
            <a:endParaRPr sz="1100" b="0" i="0">
              <a:solidFill>
                <a:srgbClr val="1D1D1F"/>
              </a:solidFill>
              <a:latin typeface="Menlo" panose="020B0609030804020204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C9C9C9"/>
                </a:solidFill>
                <a:latin typeface="Helvetica Neue" panose="02000503000000020004"/>
                <a:ea typeface="PingFang SC" panose="020B0400000000000000" charset="-122"/>
              </a:rPr>
              <a:t>总结</a:t>
            </a:r>
            <a:endParaRPr sz="1300" b="0" i="0">
              <a:solidFill>
                <a:srgbClr val="C9C9C9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51560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Helvetica Neue" panose="02000503000000020004"/>
                <a:ea typeface="PingFang SC" panose="020B0400000000000000" charset="-122"/>
              </a:rPr>
              <a:t>智演 </a:t>
            </a:r>
            <a:r>
              <a:rPr sz="3400" b="1" i="0">
                <a:solidFill>
                  <a:srgbClr val="C8791B"/>
                </a:solidFill>
                <a:latin typeface="Helvetica Neue" panose="02000503000000020004"/>
                <a:ea typeface="PingFang SC" panose="020B0400000000000000" charset="-122"/>
              </a:rPr>
              <a:t>JobEvolution</a:t>
            </a:r>
            <a:endParaRPr sz="3400" b="1" i="0">
              <a:solidFill>
                <a:srgbClr val="C8791B"/>
              </a:solidFill>
              <a:latin typeface="Helvetica Neue" panose="02000503000000020004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0" i="0">
                <a:solidFill>
                  <a:srgbClr val="E6E6E6"/>
                </a:solidFill>
                <a:latin typeface="Helvetica Neue" panose="02000503000000020004"/>
                <a:ea typeface="PingFang SC" panose="020B0400000000000000" charset="-122"/>
              </a:rPr>
              <a:t>一张能点到证据的岗位能力图谱，和一份能被核对的职业方向结论</a:t>
            </a:r>
            <a:endParaRPr sz="1800" b="0" i="0">
              <a:solidFill>
                <a:srgbClr val="E6E6E6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3575304"/>
            <a:ext cx="91440" cy="9144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2011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elvetica Neue" panose="02000503000000020004"/>
                <a:ea typeface="PingFang SC" panose="020B0400000000000000" charset="-122"/>
              </a:rPr>
              <a:t>多源可信</a:t>
            </a:r>
            <a:endParaRPr sz="1500" b="1" i="0">
              <a:solidFill>
                <a:srgbClr val="FFFFF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0" y="3474720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D6D6D6"/>
                </a:solidFill>
                <a:latin typeface="Helvetica Neue" panose="02000503000000020004"/>
                <a:ea typeface="PingFang SC" panose="020B0400000000000000" charset="-122"/>
              </a:rPr>
              <a:t>53 个官方门户 · 指纹幂等 · 近重去重 · 独立源计票 · 双时间戳</a:t>
            </a:r>
            <a:endParaRPr sz="1300" b="0" i="0">
              <a:solidFill>
                <a:srgbClr val="D6D6D6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4142231"/>
            <a:ext cx="91440" cy="9144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88720" y="4041648"/>
            <a:ext cx="2011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elvetica Neue" panose="02000503000000020004"/>
                <a:ea typeface="PingFang SC" panose="020B0400000000000000" charset="-122"/>
              </a:rPr>
              <a:t>自动演化</a:t>
            </a:r>
            <a:endParaRPr sz="1500" b="1" i="0">
              <a:solidFill>
                <a:srgbClr val="FFFFF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0" y="4041648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D6D6D6"/>
                </a:solidFill>
                <a:latin typeface="Helvetica Neue" panose="02000503000000020004"/>
                <a:ea typeface="PingFang SC" panose="020B0400000000000000" charset="-122"/>
              </a:rPr>
              <a:t>候选 → 萌芽 → 成型状态机；覆盖率与判定票每周期重算；旧边写 valid_to 可回放</a:t>
            </a:r>
            <a:endParaRPr sz="1300" b="0" i="0">
              <a:solidFill>
                <a:srgbClr val="D6D6D6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" y="4709159"/>
            <a:ext cx="91440" cy="9144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88720" y="4608576"/>
            <a:ext cx="2011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elvetica Neue" panose="02000503000000020004"/>
                <a:ea typeface="PingFang SC" panose="020B0400000000000000" charset="-122"/>
              </a:rPr>
              <a:t>读算分离</a:t>
            </a:r>
            <a:endParaRPr sz="1500" b="1" i="0">
              <a:solidFill>
                <a:srgbClr val="FFFFF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0" y="4608576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D6D6D6"/>
                </a:solidFill>
                <a:latin typeface="Helvetica Neue" panose="02000503000000020004"/>
                <a:ea typeface="PingFang SC" panose="020B0400000000000000" charset="-122"/>
              </a:rPr>
              <a:t>大模型只抽取、判别、解释；分数、档位、状态由确定性规则算；十道闸门防幻觉</a:t>
            </a:r>
            <a:endParaRPr sz="1300" b="0" i="0">
              <a:solidFill>
                <a:srgbClr val="D6D6D6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5276088"/>
            <a:ext cx="91440" cy="91440"/>
          </a:xfrm>
          <a:prstGeom prst="rect">
            <a:avLst/>
          </a:prstGeom>
          <a:solidFill>
            <a:srgbClr val="C87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88720" y="5175504"/>
            <a:ext cx="2011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elvetica Neue" panose="02000503000000020004"/>
                <a:ea typeface="PingFang SC" panose="020B0400000000000000" charset="-122"/>
              </a:rPr>
              <a:t>可验证</a:t>
            </a:r>
            <a:endParaRPr sz="1500" b="1" i="0">
              <a:solidFill>
                <a:srgbClr val="FFFFFF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00400" y="5175504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D6D6D6"/>
                </a:solidFill>
                <a:latin typeface="Helvetica Neue" panose="02000503000000020004"/>
                <a:ea typeface="PingFang SC" panose="020B0400000000000000" charset="-122"/>
              </a:rPr>
              <a:t>三套 100 条金标 · set-based F1 · 覆盖率 69.67% · Docker 一键复现</a:t>
            </a:r>
            <a:endParaRPr sz="1300" b="0" i="0">
              <a:solidFill>
                <a:srgbClr val="D6D6D6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A9A9A"/>
                </a:solidFill>
                <a:latin typeface="Helvetica Neue" panose="02000503000000020004"/>
                <a:ea typeface="PingFang SC" panose="020B0400000000000000" charset="-122"/>
              </a:rPr>
              <a:t>请评委指正 · 源码与部署脚本见提交物清单</a:t>
            </a:r>
            <a:endParaRPr sz="1200" b="0" i="0">
              <a:solidFill>
                <a:srgbClr val="9A9A9A"/>
              </a:solidFill>
              <a:latin typeface="Helvetica Neue" panose="02000503000000020004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8135</Words>
  <Application>WPS 文字</Application>
  <PresentationFormat>On-screen Show (4:3)</PresentationFormat>
  <Paragraphs>518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Arial</vt:lpstr>
      <vt:lpstr>宋体</vt:lpstr>
      <vt:lpstr>Wingdings</vt:lpstr>
      <vt:lpstr>Arial</vt:lpstr>
      <vt:lpstr>Helvetica Neue</vt:lpstr>
      <vt:lpstr>PingFang SC</vt:lpstr>
      <vt:lpstr>Menlo</vt:lpstr>
      <vt:lpstr>Calibri</vt:lpstr>
      <vt:lpstr>Helvetica Neue</vt:lpstr>
      <vt:lpstr>微软雅黑</vt:lpstr>
      <vt:lpstr>方正雅意黑 GB18030L2</vt:lpstr>
      <vt:lpstr>宋体</vt:lpstr>
      <vt:lpstr>Arial Unicode MS</vt:lpstr>
      <vt:lpstr>汉仪书宋二KW</vt:lpstr>
      <vt:lpstr>Menlo</vt:lpstr>
      <vt:lpstr>宋体-简</vt:lpstr>
      <vt:lpstr>MS PGothic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何康健</cp:lastModifiedBy>
  <cp:revision>3</cp:revision>
  <dcterms:created xsi:type="dcterms:W3CDTF">2026-09-05T10:09:30Z</dcterms:created>
  <dcterms:modified xsi:type="dcterms:W3CDTF">2026-09-05T10:09:30Z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5EEA070639E4F1B82CEA9B6AA9AB0DBA_42</vt:lpwstr>
  </property>
  <property fmtid="{D5CDD505-2E9C-101B-9397-08002B2CF9AE}" pid="3" name="KSOProductBuildVer">
    <vt:lpwstr>2052-12.1.26046.26046</vt:lpwstr>
  </property>
</Properties>
</file>